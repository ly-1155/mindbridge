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44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1645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000"/>
              </a:lnSpc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心理异常智能早筛与精准干预系统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51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600"/>
              </a:lnSpc>
              <a:defRPr sz="2200" b="0">
                <a:solidFill>
                  <a:srgbClr val="5CD6C3"/>
                </a:solidFill>
                <a:latin typeface="Microsoft YaHei"/>
              </a:defRPr>
            </a:pPr>
            <a:r>
              <a:t>基于多模态AI的心理咨询辅助系统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383280"/>
            <a:ext cx="1828800" cy="36576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3657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9BB8BF"/>
                </a:solidFill>
                <a:latin typeface="Microsoft YaHei"/>
              </a:defRPr>
            </a:pPr>
            <a:r>
              <a:t>安全过滤  ·  情绪分析  ·  智能路由  ·  精准干预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7A9EA8"/>
                </a:solidFill>
                <a:latin typeface="Consolas"/>
              </a:defRPr>
            </a:pPr>
            <a:r>
              <a:t>FastAPI + Qwen2.5-7B + SenseVoice + Chroma RAG +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一个融合大语言模型（LLM）、语音识别（ASR）、面部情绪识别与知识检索（RAG）的 AI 心理治疗师系统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94960" cy="54864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2194560"/>
            <a:ext cx="411480" cy="41148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  <a:defRPr sz="1900" b="1">
                <a:solidFill>
                  <a:srgbClr val="1B3A4B"/>
                </a:solidFill>
                <a:latin typeface="Microsoft YaHei"/>
              </a:defRPr>
            </a:pPr>
            <a:r>
              <a:t>安全过滤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关键词匹配 + 敏感词库</a:t>
            </a:r>
            <a:br/>
            <a:r>
              <a:t>10000+ 三级分级词汇</a:t>
            </a:r>
            <a:br/>
            <a:r>
              <a:t>多模态 NSFW 检测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2024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394960" cy="54864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92240" y="2194560"/>
            <a:ext cx="411480" cy="411480"/>
          </a:xfrm>
          <a:prstGeom prst="ellipse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148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  <a:defRPr sz="1900" b="1">
                <a:solidFill>
                  <a:srgbClr val="1B3A4B"/>
                </a:solidFill>
                <a:latin typeface="Microsoft YaHei"/>
              </a:defRPr>
            </a:pPr>
            <a:r>
              <a:t>情绪分析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56032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文字 + 语音 + 视频</a:t>
            </a:r>
            <a:br/>
            <a:r>
              <a:t>多信号情绪融合</a:t>
            </a:r>
            <a:br/>
            <a:r>
              <a:t>冲突仲裁机制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394960" cy="54864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59" y="4114800"/>
            <a:ext cx="411480" cy="411480"/>
          </a:xfrm>
          <a:prstGeom prst="ellipse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  <a:defRPr sz="1900" b="1">
                <a:solidFill>
                  <a:srgbClr val="1B3A4B"/>
                </a:solidFill>
                <a:latin typeface="Microsoft YaHei"/>
              </a:defRPr>
            </a:pPr>
            <a:r>
              <a:t>智能路由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8056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规则引擎驱动</a:t>
            </a:r>
            <a:br/>
            <a:r>
              <a:t>三条干预路线决策</a:t>
            </a:r>
            <a:br/>
            <a:r>
              <a:t>置信度评分体系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80"/>
            <a:ext cx="53949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394960" cy="54864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92240" y="4114800"/>
            <a:ext cx="411480" cy="411480"/>
          </a:xfrm>
          <a:prstGeom prst="ellipse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S4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069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200"/>
              </a:lnSpc>
              <a:defRPr sz="1900" b="1">
                <a:solidFill>
                  <a:srgbClr val="1B3A4B"/>
                </a:solidFill>
                <a:latin typeface="Microsoft YaHei"/>
              </a:defRPr>
            </a:pPr>
            <a:r>
              <a:t>干预生成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480560"/>
            <a:ext cx="4114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危机模板 / 安慰共情</a:t>
            </a:r>
            <a:br/>
            <a:r>
              <a:t>RAG 知识库检索</a:t>
            </a:r>
            <a:br/>
            <a:r>
              <a:t>PHQ-9/GAD-7 量表筛查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defRPr sz="1100" b="1">
                <a:solidFill>
                  <a:srgbClr val="6B8290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5760720"/>
            <a:ext cx="914400" cy="32004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5760720"/>
            <a:ext cx="914400" cy="32004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6888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Qwen2.5-7B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5760720"/>
            <a:ext cx="914400" cy="320040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SenseVoice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5760720"/>
            <a:ext cx="914400" cy="320040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Chroma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5760720"/>
            <a:ext cx="914400" cy="32004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MySQL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5760720"/>
            <a:ext cx="914400" cy="32004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Edge-TTS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0" y="5760720"/>
            <a:ext cx="914400" cy="320040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OpenCV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5760720"/>
            <a:ext cx="914400" cy="320040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jieba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5760720"/>
            <a:ext cx="914400" cy="32004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0976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HSEmotion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515600" y="5760720"/>
            <a:ext cx="914400" cy="32004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5600" y="57607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整体系统架构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161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28016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HTML/CSS/JS 聊天界面  ·  语音输入  ·  摄像头拍照  ·  视频上传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134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API 网关层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FastAPI + Uvicorn  ·  CORS  ·  路由分发  ·  请求验证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1064240" cy="1280160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1071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业务流水线层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59" y="384048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84048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1A8F9A"/>
                </a:solidFill>
                <a:latin typeface="Microsoft YaHei"/>
              </a:defRPr>
            </a:pPr>
            <a:r>
              <a:t>Safety</a:t>
            </a:r>
            <a:br/>
            <a:r>
              <a:t>安全过滤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246120" y="3977640"/>
            <a:ext cx="274320" cy="201168"/>
          </a:xfrm>
          <a:prstGeom prst="rightArrow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6160" y="384048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384048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1A8F9A"/>
                </a:solidFill>
                <a:latin typeface="Microsoft YaHei"/>
              </a:defRPr>
            </a:pPr>
            <a:r>
              <a:t>Emotion</a:t>
            </a:r>
            <a:br/>
            <a:r>
              <a:t>情绪分析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3977640"/>
            <a:ext cx="274320" cy="201168"/>
          </a:xfrm>
          <a:prstGeom prst="rightArrow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1A8F9A"/>
                </a:solidFill>
                <a:latin typeface="Microsoft YaHei"/>
              </a:defRPr>
            </a:pPr>
            <a:r>
              <a:t>Router</a:t>
            </a:r>
            <a:br/>
            <a:r>
              <a:t>智能路由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2520" y="3977640"/>
            <a:ext cx="274320" cy="201168"/>
          </a:xfrm>
          <a:prstGeom prst="rightArrow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3840480"/>
            <a:ext cx="23774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3840480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300" b="1">
                <a:solidFill>
                  <a:srgbClr val="1A8F9A"/>
                </a:solidFill>
                <a:latin typeface="Microsoft YaHei"/>
              </a:defRPr>
            </a:pPr>
            <a:r>
              <a:t>Intervention</a:t>
            </a:r>
            <a:br/>
            <a:r>
              <a:t>干预生成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1480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212079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MySQL 持久化  ·  Chroma 向量库  ·  Redis 缓存  ·  ffmpeg 预处理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126480"/>
            <a:ext cx="22860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LLM 服务 (Qwen2.5-7B)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6126480"/>
            <a:ext cx="22860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0" y="6126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ASR 服务 (SenseVoice/Whisper)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6126480"/>
            <a:ext cx="22860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6126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TTS 服务 (Edge-TTS)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6126480"/>
            <a:ext cx="22860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0" y="6126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知识库 (Chroma + BM25)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1874519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0D7C85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9718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14A3A8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75488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1A8F9A"/>
                </a:solidFill>
                <a:latin typeface="Microsoft YaHe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核心四阶段流水线 (Pipeline)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3063" y="1063721"/>
            <a:ext cx="2181113" cy="179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rPr dirty="0" err="1"/>
              <a:t>用户输入</a:t>
            </a:r>
            <a:r>
              <a:rPr dirty="0"/>
              <a:t> (</a:t>
            </a:r>
            <a:r>
              <a:rPr dirty="0" err="1"/>
              <a:t>文字</a:t>
            </a:r>
            <a:r>
              <a:rPr dirty="0"/>
              <a:t> / </a:t>
            </a:r>
            <a:r>
              <a:rPr dirty="0" err="1"/>
              <a:t>语音</a:t>
            </a:r>
            <a:r>
              <a:rPr dirty="0"/>
              <a:t> / </a:t>
            </a:r>
            <a:r>
              <a:t>视频)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4724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6B8290"/>
                </a:solidFill>
                <a:latin typeface="Microsoft YaHei"/>
              </a:defRPr>
            </a:pPr>
            <a:r>
              <a:rPr dirty="0"/>
              <a:t>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651760" cy="54864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D7C85"/>
                </a:solidFill>
                <a:latin typeface="Microsoft YaHei"/>
              </a:defRPr>
            </a:pPr>
            <a:r>
              <a:t>S1 安全过滤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关键词匹配</a:t>
            </a:r>
            <a:br/>
            <a:r>
              <a:t>三级敏感词库</a:t>
            </a:r>
            <a:br/>
            <a:r>
              <a:t>多模态 NSFW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82880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920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4A3A8"/>
                </a:solidFill>
                <a:latin typeface="Microsoft YaHei"/>
              </a:defRPr>
            </a:pPr>
            <a:r>
              <a:t>S2 情绪分析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文字情绪 LLM</a:t>
            </a:r>
            <a:br/>
            <a:r>
              <a:t>语音情绪 SenseVoice</a:t>
            </a:r>
            <a:br/>
            <a:r>
              <a:t>面部情绪 HSEmotion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3317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651760" cy="54864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1A8F9A"/>
                </a:solidFill>
                <a:latin typeface="Microsoft YaHei"/>
              </a:defRPr>
            </a:pPr>
            <a:r>
              <a:t>S3 智能路由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风险等级评估</a:t>
            </a:r>
            <a:br/>
            <a:r>
              <a:t>情绪偏向计算</a:t>
            </a:r>
            <a:br/>
            <a:r>
              <a:t>三路线决策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31720"/>
            <a:ext cx="320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4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828800"/>
            <a:ext cx="265176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828800"/>
            <a:ext cx="2651760" cy="54864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5CD6C3"/>
                </a:solidFill>
                <a:latin typeface="Microsoft YaHei"/>
              </a:defRPr>
            </a:pPr>
            <a:r>
              <a:t>S4 干预生成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危机模板</a:t>
            </a:r>
            <a:br/>
            <a:r>
              <a:t>LLM 共情对话</a:t>
            </a:r>
            <a:br/>
            <a:r>
              <a:t>RAG + 量表筛查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31920"/>
            <a:ext cx="11430000" cy="2775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73152" cy="2775204"/>
          </a:xfrm>
          <a:prstGeom prst="rect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E86A3A"/>
                </a:solidFill>
                <a:latin typeface="Microsoft YaHei"/>
              </a:defRPr>
            </a:pPr>
            <a:r>
              <a:rPr dirty="0"/>
              <a:t>⚠ </a:t>
            </a:r>
            <a:r>
              <a:rPr dirty="0" err="1"/>
              <a:t>紧急短路逻辑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10515600" cy="3161186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ts val="1800"/>
              </a:lnSpc>
              <a:defRPr sz="1400" b="1">
                <a:solidFill>
                  <a:srgbClr val="1B3A4B"/>
                </a:solidFill>
                <a:latin typeface="Microsoft YaHei"/>
              </a:defRPr>
            </a:pPr>
            <a:r>
              <a:rPr dirty="0" err="1"/>
              <a:t>当安全检测发现危险等级</a:t>
            </a:r>
            <a:r>
              <a:rPr dirty="0"/>
              <a:t> &gt;= 2 时：</a:t>
            </a:r>
            <a:endParaRPr lang="en-US" dirty="0"/>
          </a:p>
          <a:p>
            <a:pPr algn="l">
              <a:lnSpc>
                <a:spcPts val="1800"/>
              </a:lnSpc>
              <a:defRPr sz="1400" b="1">
                <a:solidFill>
                  <a:srgbClr val="1B3A4B"/>
                </a:solidFill>
                <a:latin typeface="Microsoft YaHei"/>
              </a:defRPr>
            </a:pPr>
            <a:endParaRPr dirty="0"/>
          </a:p>
          <a:p>
            <a:pPr algn="l">
              <a:lnSpc>
                <a:spcPts val="1600"/>
              </a:lnSpc>
              <a:defRPr sz="1300" b="0">
                <a:solidFill>
                  <a:srgbClr val="1B3A4B"/>
                </a:solidFill>
                <a:latin typeface="Microsoft YaHei"/>
              </a:defRPr>
            </a:pPr>
            <a:r>
              <a:rPr dirty="0"/>
              <a:t>1. </a:t>
            </a:r>
            <a:r>
              <a:rPr dirty="0" err="1"/>
              <a:t>跳过阶段二（情绪分析）和阶段三（智能路由</a:t>
            </a:r>
            <a:r>
              <a:rPr dirty="0"/>
              <a:t>）</a:t>
            </a:r>
          </a:p>
          <a:p>
            <a:endParaRPr dirty="0"/>
          </a:p>
          <a:p>
            <a:pPr algn="l">
              <a:lnSpc>
                <a:spcPts val="1600"/>
              </a:lnSpc>
              <a:defRPr sz="1300" b="0">
                <a:solidFill>
                  <a:srgbClr val="1B3A4B"/>
                </a:solidFill>
                <a:latin typeface="Microsoft YaHei"/>
              </a:defRPr>
            </a:pPr>
            <a:r>
              <a:rPr dirty="0"/>
              <a:t>2. </a:t>
            </a:r>
            <a:r>
              <a:rPr dirty="0" err="1"/>
              <a:t>情绪自动标记为</a:t>
            </a:r>
            <a:r>
              <a:rPr dirty="0"/>
              <a:t> </a:t>
            </a:r>
            <a:r>
              <a:rPr dirty="0" err="1"/>
              <a:t>distress（极度痛苦</a:t>
            </a:r>
            <a:r>
              <a:rPr dirty="0"/>
              <a:t>）</a:t>
            </a:r>
          </a:p>
          <a:p>
            <a:endParaRPr dirty="0"/>
          </a:p>
          <a:p>
            <a:pPr algn="l">
              <a:lnSpc>
                <a:spcPts val="1600"/>
              </a:lnSpc>
              <a:defRPr sz="1300" b="0">
                <a:solidFill>
                  <a:srgbClr val="1B3A4B"/>
                </a:solidFill>
                <a:latin typeface="Microsoft YaHei"/>
              </a:defRPr>
            </a:pPr>
            <a:r>
              <a:rPr dirty="0"/>
              <a:t>3. </a:t>
            </a:r>
            <a:r>
              <a:rPr dirty="0" err="1"/>
              <a:t>路由强制设为</a:t>
            </a:r>
            <a:r>
              <a:rPr dirty="0"/>
              <a:t> </a:t>
            </a:r>
            <a:r>
              <a:rPr dirty="0" err="1"/>
              <a:t>crisis（危机干预</a:t>
            </a:r>
            <a:r>
              <a:rPr dirty="0"/>
              <a:t>）</a:t>
            </a:r>
          </a:p>
          <a:p>
            <a:endParaRPr dirty="0"/>
          </a:p>
          <a:p>
            <a:pPr algn="l">
              <a:lnSpc>
                <a:spcPts val="1600"/>
              </a:lnSpc>
              <a:defRPr sz="1300" b="0">
                <a:solidFill>
                  <a:srgbClr val="1B3A4B"/>
                </a:solidFill>
                <a:latin typeface="Microsoft YaHei"/>
              </a:defRPr>
            </a:pPr>
            <a:r>
              <a:rPr dirty="0"/>
              <a:t>4. </a:t>
            </a:r>
            <a:r>
              <a:rPr dirty="0" err="1"/>
              <a:t>直接进入阶段四</a:t>
            </a:r>
            <a:r>
              <a:rPr dirty="0"/>
              <a:t> → </a:t>
            </a:r>
            <a:r>
              <a:rPr dirty="0" err="1"/>
              <a:t>触发紧急干预模板</a:t>
            </a:r>
            <a:r>
              <a:rPr dirty="0"/>
              <a:t> + 120 </a:t>
            </a:r>
            <a:r>
              <a:rPr dirty="0" err="1"/>
              <a:t>急救推送</a:t>
            </a:r>
            <a:endParaRPr dirty="0"/>
          </a:p>
          <a:p>
            <a:endParaRPr dirty="0"/>
          </a:p>
          <a:p>
            <a:pPr algn="l">
              <a:lnSpc>
                <a:spcPts val="1000"/>
              </a:lnSpc>
              <a:defRPr sz="800" b="0">
                <a:solidFill>
                  <a:srgbClr val="6B8290"/>
                </a:solidFill>
                <a:latin typeface="Microsoft YaHei"/>
              </a:defRPr>
            </a:pPr>
            <a:endParaRPr dirty="0"/>
          </a:p>
          <a:p>
            <a:endParaRPr dirty="0"/>
          </a:p>
          <a:p>
            <a:pPr algn="l">
              <a:lnSpc>
                <a:spcPts val="1500"/>
              </a:lnSpc>
              <a:defRPr sz="1200" b="1">
                <a:solidFill>
                  <a:srgbClr val="E86A3A"/>
                </a:solidFill>
                <a:latin typeface="Microsoft YaHei"/>
              </a:defRPr>
            </a:pPr>
            <a:r>
              <a:rPr dirty="0" err="1"/>
              <a:t>设计理念：安全优先。发现危险即跳过所有中间环节，最大限度保障用户生命安全</a:t>
            </a:r>
            <a:r>
              <a:rPr dirty="0"/>
              <a:t>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904488"/>
            <a:ext cx="5303520" cy="36576"/>
          </a:xfrm>
          <a:prstGeom prst="rect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阶段一：安全过滤 (Safety Filter)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B3A4B"/>
                </a:solidFill>
                <a:latin typeface="Microsoft YaHei"/>
              </a:defRPr>
            </a:pPr>
            <a:r>
              <a:t>目的：第一时间识别危机内容，触发紧急干预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D7C85"/>
                </a:solidFill>
                <a:latin typeface="Microsoft YaHei"/>
              </a:defRPr>
            </a:pPr>
            <a:r>
              <a:t>文本关键词匹配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基于 sensitive_words.json，包含 10000+ 中文敏感词，按 0/1/2 三级分类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D7C85"/>
                </a:solidFill>
                <a:latin typeface="Microsoft YaHei"/>
              </a:defRPr>
            </a:pPr>
            <a:r>
              <a:t>多模态安全检测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视频帧检测 · 音频内容审查 · 图像 NSFW 识别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9184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D7C85"/>
                </a:solidFill>
                <a:latin typeface="Microsoft YaHei"/>
              </a:defRPr>
            </a:pPr>
            <a:r>
              <a:t>模拟 120 急救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393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危险等级 ≥ 2 时，自动调用 emergency_push 生成危机响应模板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530352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0D7C85"/>
                </a:solidFill>
                <a:latin typeface="Microsoft YaHei"/>
              </a:defRPr>
            </a:pPr>
            <a:r>
              <a:t>分级阻断策略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622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Level 0 放行 · Level 1 标记关注 · Level 2 阻断并触发紧急短路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97280"/>
            <a:ext cx="5303520" cy="3291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5CD6C3"/>
                </a:solidFill>
                <a:latin typeface="Microsoft YaHei"/>
              </a:defRPr>
            </a:pPr>
            <a:r>
              <a:t>敏感词库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0116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7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10,000+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6B8290"/>
                </a:solidFill>
                <a:latin typeface="Microsoft YaHei"/>
              </a:defRPr>
            </a:pPr>
            <a:r>
              <a:t>中文敏感词条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5700"/>
              </a:lnSpc>
              <a:defRPr sz="4800" b="1">
                <a:solidFill>
                  <a:srgbClr val="5CD6C3"/>
                </a:solidFill>
                <a:latin typeface="Microsoft YaHei"/>
              </a:defRPr>
            </a:pPr>
            <a:r>
              <a:t>3 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300" b="0">
                <a:solidFill>
                  <a:srgbClr val="6B8290"/>
                </a:solidFill>
                <a:latin typeface="Microsoft YaHei"/>
              </a:defRPr>
            </a:pPr>
            <a:r>
              <a:t>危险等级体系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971800"/>
            <a:ext cx="548640" cy="274320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0" y="2971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Level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9718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BBCCD2"/>
                </a:solidFill>
                <a:latin typeface="Microsoft YaHei"/>
              </a:defRPr>
            </a:pPr>
            <a:r>
              <a:t>一般敏感词，放行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337560"/>
            <a:ext cx="548640" cy="274320"/>
          </a:xfrm>
          <a:prstGeom prst="rect">
            <a:avLst/>
          </a:prstGeom>
          <a:solidFill>
            <a:srgbClr val="D4A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33375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Level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3375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BBCCD2"/>
                </a:solidFill>
                <a:latin typeface="Microsoft YaHei"/>
              </a:defRPr>
            </a:pPr>
            <a:r>
              <a:t>较重敏感词，标记关注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703320"/>
            <a:ext cx="548640" cy="274320"/>
          </a:xfrm>
          <a:prstGeom prst="rect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3703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000"/>
              </a:lnSpc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Level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70332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BBCCD2"/>
                </a:solidFill>
                <a:latin typeface="Microsoft YaHei"/>
              </a:defRPr>
            </a:pPr>
            <a:r>
              <a:t>极端危险词，阻断+紧急干预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663440"/>
            <a:ext cx="5303520" cy="54864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66344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输出：SafetyCheckResult { level, blocked, matched_terms 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0">
                <a:solidFill>
                  <a:srgbClr val="1B3A4B"/>
                </a:solidFill>
                <a:latin typeface="Microsoft YaHei"/>
              </a:defRPr>
            </a:pPr>
            <a:r>
              <a:t>文本/音频/视频 → 关键词匹配 → 多模态检测 → 等级判定 → 阻断/放行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阶段二：情绪分析 (Emotion Analysis)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3474720" cy="54864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280160"/>
            <a:ext cx="502920" cy="50292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80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B3A4B"/>
                </a:solidFill>
                <a:latin typeface="Microsoft YaHei"/>
              </a:defRPr>
            </a:pPr>
            <a:r>
              <a:t>文字情绪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LLM 情感分析</a:t>
            </a:r>
            <a:br/>
            <a:r>
              <a:t>Ekman 七分类</a:t>
            </a:r>
            <a:br/>
            <a:r>
              <a:t>情感强度评分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3474720" cy="54864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280160"/>
            <a:ext cx="502920" cy="502920"/>
          </a:xfrm>
          <a:prstGeom prst="ellipse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280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B3A4B"/>
                </a:solidFill>
                <a:latin typeface="Microsoft YaHei"/>
              </a:defRPr>
            </a:pPr>
            <a:r>
              <a:t>语音情绪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SenseVoice 模型</a:t>
            </a:r>
            <a:br/>
            <a:r>
              <a:t>从音频波形提取</a:t>
            </a:r>
            <a:br/>
            <a:r>
              <a:t>语调/语速/停顿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97280"/>
            <a:ext cx="34747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097280"/>
            <a:ext cx="3474720" cy="54864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03920" y="1280160"/>
            <a:ext cx="502920" cy="502920"/>
          </a:xfrm>
          <a:prstGeom prst="ellipse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280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1B3A4B"/>
                </a:solidFill>
                <a:latin typeface="Microsoft YaHei"/>
              </a:defRPr>
            </a:pPr>
            <a:r>
              <a:t>面部情绪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8288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HSEmotion 引擎</a:t>
            </a:r>
            <a:br/>
            <a:r>
              <a:t>MediaPipe 人脸检测</a:t>
            </a:r>
            <a:br/>
            <a:r>
              <a:t>逐帧表情识别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004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0D7C85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004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14A3A8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2004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1A8F9A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566160"/>
            <a:ext cx="5760720" cy="1005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361188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100"/>
              </a:lnSpc>
              <a:defRPr sz="1800" b="1">
                <a:solidFill>
                  <a:srgbClr val="5CD6C3"/>
                </a:solidFill>
                <a:latin typeface="Microsoft YaHei"/>
              </a:defRPr>
            </a:pPr>
            <a:r>
              <a:t>Emotion Fusion 情绪融合引擎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77639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200" b="0">
                <a:solidFill>
                  <a:srgbClr val="BBCCD2"/>
                </a:solidFill>
                <a:latin typeface="Microsoft YaHei"/>
              </a:defRPr>
            </a:pPr>
            <a:r>
              <a:t>多信号加权综合  ·  冲突仲裁（按置信度裁决）  ·  情绪标签映射（Ekman → 8 类合约标签）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6634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100"/>
              </a:lnSpc>
              <a:defRPr sz="1800" b="0">
                <a:solidFill>
                  <a:srgbClr val="5CD6C3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5029200"/>
            <a:ext cx="6675120" cy="64008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0" y="5029200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输出：EmotionTags { primary_emotion, intensity, risk, modality_notes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愤怒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97480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厌恶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0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恐惧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97880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97880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快乐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悲伤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98280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惊讶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698480" y="5943600"/>
            <a:ext cx="1371600" cy="36576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698480" y="5943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1B3A4B"/>
                </a:solidFill>
                <a:latin typeface="Microsoft YaHei"/>
              </a:defRPr>
            </a:pPr>
            <a:r>
              <a:t>中性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阶段三：智能路由 (Route Decision)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B3A4B"/>
                </a:solidFill>
                <a:latin typeface="Microsoft YaHei"/>
              </a:defRPr>
            </a:pPr>
            <a:r>
              <a:t>目的：综合安全评估与情绪分析结果，决定干预路线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0D7C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路由结果</a:t>
                      </a:r>
                    </a:p>
                  </a:txBody>
                  <a:tcPr>
                    <a:solidFill>
                      <a:srgbClr val="0D7C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7C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置信度</a:t>
                      </a:r>
                    </a:p>
                  </a:txBody>
                  <a:tcPr>
                    <a:solidFill>
                      <a:srgbClr val="0D7C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安全等级 &gt;= 2</a:t>
                      </a:r>
                    </a:p>
                  </a:txBody>
                  <a:tcPr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CRISIS 危机</a:t>
                      </a:r>
                    </a:p>
                  </a:txBody>
                  <a:tcPr>
                    <a:solidFill>
                      <a:srgbClr val="FFF0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A3A"/>
                          </a:solidFill>
                          <a:latin typeface="Microsoft YaHei"/>
                        </a:defRPr>
                      </a:pPr>
                      <a:r>
                        <a:t>直接升级，最高优先级</a:t>
                      </a:r>
                    </a:p>
                  </a:txBody>
                  <a:tcPr>
                    <a:solidFill>
                      <a:srgbClr val="E86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强制 1.0</a:t>
                      </a:r>
                    </a:p>
                  </a:txBody>
                  <a:tcPr>
                    <a:solidFill>
                      <a:srgbClr val="FF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情绪强度 &gt;= 0.8 + 高风险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CRISIS 危机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E86A3A"/>
                          </a:solidFill>
                          <a:latin typeface="Microsoft YaHei"/>
                        </a:defRPr>
                      </a:pPr>
                      <a:r>
                        <a:t>高情绪风险触发危机</a:t>
                      </a:r>
                    </a:p>
                  </a:txBody>
                  <a:tcPr>
                    <a:solidFill>
                      <a:srgbClr val="E86A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0.8 - 1.0</a:t>
                      </a:r>
                    </a:p>
                  </a:txBody>
                  <a:tcPr>
                    <a:solidFill>
                      <a:srgbClr val="FF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情绪强度 0.4~0.8 / 负面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COMFORT 安慰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4A3A8"/>
                          </a:solidFill>
                          <a:latin typeface="Microsoft YaHei"/>
                        </a:defRPr>
                      </a:pPr>
                      <a:r>
                        <a:t>需要共情安抚</a:t>
                      </a:r>
                    </a:p>
                  </a:txBody>
                  <a:tcPr>
                    <a:solidFill>
                      <a:srgbClr val="14A3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0.6 - 0.9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情绪强度 &lt; 0.4 / 正面</a:t>
                      </a:r>
                    </a:p>
                  </a:txBody>
                  <a:tcPr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KNOWLEDGE 知识</a:t>
                      </a:r>
                    </a:p>
                  </a:txBody>
                  <a:tcPr>
                    <a:solidFill>
                      <a:srgbClr val="F0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7C85"/>
                          </a:solidFill>
                          <a:latin typeface="Microsoft YaHei"/>
                        </a:defRPr>
                      </a:pPr>
                      <a:r>
                        <a:t>理性交流，知识科普</a:t>
                      </a:r>
                    </a:p>
                  </a:txBody>
                  <a:tcPr>
                    <a:solidFill>
                      <a:srgbClr val="0D7C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0.5 - 0.9</a:t>
                      </a:r>
                    </a:p>
                  </a:txBody>
                  <a:tcPr>
                    <a:solidFill>
                      <a:srgbClr val="F0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用户主动询问知识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KNOWLEDGE 知识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7C85"/>
                          </a:solidFill>
                          <a:latin typeface="Microsoft YaHei"/>
                        </a:defRPr>
                      </a:pPr>
                      <a:r>
                        <a:t>满足求知需求</a:t>
                      </a:r>
                    </a:p>
                  </a:txBody>
                  <a:tcPr>
                    <a:solidFill>
                      <a:srgbClr val="0D7C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0.7 - 1.0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600"/>
              </a:lnSpc>
              <a:defRPr sz="1400" b="1">
                <a:solidFill>
                  <a:srgbClr val="1B3A4B"/>
                </a:solidFill>
                <a:latin typeface="Microsoft YaHei"/>
              </a:defRPr>
            </a:pPr>
            <a:r>
              <a:t>置信度计算：基础分 - 边界模糊惩罚 - 信号冲突惩罚 = 最终置信度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4754880"/>
            <a:ext cx="73152" cy="137160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892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14A3A8"/>
                </a:solidFill>
                <a:latin typeface="Microsoft YaHei"/>
              </a:defRPr>
            </a:pPr>
            <a:r>
              <a:t>COMFORT 安慰路线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2578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以 LLM 共情对话为主</a:t>
            </a:r>
            <a:br/>
            <a:r>
              <a:t>提供心理安抚与情绪疏导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7548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4754880"/>
            <a:ext cx="73152" cy="137160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892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0D7C85"/>
                </a:solidFill>
                <a:latin typeface="Microsoft YaHei"/>
              </a:defRPr>
            </a:pPr>
            <a:r>
              <a:t>KNOWLEDGE 知识路线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2578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RAG 知识库检索 + 量表筛查</a:t>
            </a:r>
            <a:br/>
            <a:r>
              <a:t>提供专业心理知识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7548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4754880"/>
            <a:ext cx="73152" cy="1371600"/>
          </a:xfrm>
          <a:prstGeom prst="rect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48920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800"/>
              </a:lnSpc>
              <a:defRPr sz="1500" b="1">
                <a:solidFill>
                  <a:srgbClr val="E86A3A"/>
                </a:solidFill>
                <a:latin typeface="Microsoft YaHei"/>
              </a:defRPr>
            </a:pPr>
            <a:r>
              <a:t>CRISIS 危机路线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257800"/>
            <a:ext cx="3017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确定性模板回复 + 紧急推送</a:t>
            </a:r>
            <a:br/>
            <a:r>
              <a:t>保障用户生命安全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阶段四：干预生成 (Intervention)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37033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703320" cy="548640"/>
          </a:xfrm>
          <a:prstGeom prst="rect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CRISIS 危机干预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901952"/>
            <a:ext cx="109728" cy="109728"/>
          </a:xfrm>
          <a:prstGeom prst="ellipse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匹配危机类型模板（自杀/自伤/暴力/急症）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587752"/>
            <a:ext cx="109728" cy="109728"/>
          </a:xfrm>
          <a:prstGeom prst="ellipse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生成确定性回复（不经过 LLM，保证稳定可靠）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273552"/>
            <a:ext cx="109728" cy="109728"/>
          </a:xfrm>
          <a:prstGeom prst="ellipse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触发紧急推送（模拟 120 救援 API）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959352"/>
            <a:ext cx="109728" cy="109728"/>
          </a:xfrm>
          <a:prstGeom prst="ellipse">
            <a:avLst/>
          </a:prstGeom>
          <a:solidFill>
            <a:srgbClr val="E8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输出：安抚话术 + 求助信息 + 紧急联系人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37033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097280"/>
            <a:ext cx="3703320" cy="54864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143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COMFORT 安慰干预</a:t>
            </a:r>
          </a:p>
        </p:txBody>
      </p:sp>
      <p:sp>
        <p:nvSpPr>
          <p:cNvPr id="18" name="Oval 17"/>
          <p:cNvSpPr/>
          <p:nvPr/>
        </p:nvSpPr>
        <p:spPr>
          <a:xfrm>
            <a:off x="4480560" y="1901952"/>
            <a:ext cx="109728" cy="109728"/>
          </a:xfrm>
          <a:prstGeom prst="ellipse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1828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调用 LLM（Qwen2.5-7B）生成共情回复</a:t>
            </a:r>
          </a:p>
        </p:txBody>
      </p:sp>
      <p:sp>
        <p:nvSpPr>
          <p:cNvPr id="20" name="Oval 19"/>
          <p:cNvSpPr/>
          <p:nvPr/>
        </p:nvSpPr>
        <p:spPr>
          <a:xfrm>
            <a:off x="4480560" y="2587752"/>
            <a:ext cx="109728" cy="109728"/>
          </a:xfrm>
          <a:prstGeom prst="ellipse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25146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使用安抚提示词模板 + 8 种心理治疗技术随机选择</a:t>
            </a:r>
          </a:p>
        </p:txBody>
      </p:sp>
      <p:sp>
        <p:nvSpPr>
          <p:cNvPr id="22" name="Oval 21"/>
          <p:cNvSpPr/>
          <p:nvPr/>
        </p:nvSpPr>
        <p:spPr>
          <a:xfrm>
            <a:off x="4480560" y="3273552"/>
            <a:ext cx="109728" cy="109728"/>
          </a:xfrm>
          <a:prstGeom prst="ellipse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3200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倾听与共情 · 认知重构 · 行为激活 · 放松训练</a:t>
            </a:r>
          </a:p>
        </p:txBody>
      </p:sp>
      <p:sp>
        <p:nvSpPr>
          <p:cNvPr id="24" name="Oval 23"/>
          <p:cNvSpPr/>
          <p:nvPr/>
        </p:nvSpPr>
        <p:spPr>
          <a:xfrm>
            <a:off x="4480560" y="3959352"/>
            <a:ext cx="109728" cy="109728"/>
          </a:xfrm>
          <a:prstGeom prst="ellipse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接纳承诺 · 积极心理 · 自我关怀 · 社交支持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1097280"/>
            <a:ext cx="370332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79" y="1097280"/>
            <a:ext cx="3703320" cy="54864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14300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2000"/>
              </a:lnSpc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KNOWLEDGE 知识干预</a:t>
            </a:r>
          </a:p>
        </p:txBody>
      </p:sp>
      <p:sp>
        <p:nvSpPr>
          <p:cNvPr id="29" name="Oval 28"/>
          <p:cNvSpPr/>
          <p:nvPr/>
        </p:nvSpPr>
        <p:spPr>
          <a:xfrm>
            <a:off x="8366759" y="1901952"/>
            <a:ext cx="109728" cy="109728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59" y="1828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量表筛查判断：PHQ-9 抑郁筛查 / GAD-7 焦虑筛查</a:t>
            </a:r>
          </a:p>
        </p:txBody>
      </p:sp>
      <p:sp>
        <p:nvSpPr>
          <p:cNvPr id="31" name="Oval 30"/>
          <p:cNvSpPr/>
          <p:nvPr/>
        </p:nvSpPr>
        <p:spPr>
          <a:xfrm>
            <a:off x="8366759" y="2587752"/>
            <a:ext cx="109728" cy="109728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59" y="25146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RAG 检索：LLM 查询分类 → Chroma 密集向量 + BM25 关键词</a:t>
            </a:r>
          </a:p>
        </p:txBody>
      </p:sp>
      <p:sp>
        <p:nvSpPr>
          <p:cNvPr id="33" name="Oval 32"/>
          <p:cNvSpPr/>
          <p:nvPr/>
        </p:nvSpPr>
        <p:spPr>
          <a:xfrm>
            <a:off x="8366759" y="3273552"/>
            <a:ext cx="109728" cy="109728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59" y="32004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RRF 融合排序 → Top 3 → LLM 结合检索结果生成回复</a:t>
            </a:r>
          </a:p>
        </p:txBody>
      </p:sp>
      <p:sp>
        <p:nvSpPr>
          <p:cNvPr id="35" name="Oval 34"/>
          <p:cNvSpPr/>
          <p:nvPr/>
        </p:nvSpPr>
        <p:spPr>
          <a:xfrm>
            <a:off x="8366759" y="3959352"/>
            <a:ext cx="109728" cy="109728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59" y="38862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400"/>
              </a:lnSpc>
              <a:defRPr sz="1100" b="0">
                <a:solidFill>
                  <a:srgbClr val="1B3A4B"/>
                </a:solidFill>
                <a:latin typeface="Microsoft YaHei"/>
              </a:defRPr>
            </a:pPr>
            <a:r>
              <a:t>支持多轮量表流程：开始 → 逐题施测 → 评分反馈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600"/>
              </a:lnSpc>
              <a:defRPr sz="1400" b="1">
                <a:solidFill>
                  <a:srgbClr val="5CD6C3"/>
                </a:solidFill>
                <a:latin typeface="Microsoft YaHei"/>
              </a:defRPr>
            </a:pPr>
            <a:r>
              <a:t>最终输出：InterventionResult { reply, empathy, suggestion, action_items } → 返回给用户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多模态处理流程：视频输入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1463040" cy="118872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463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视频文件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874519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上传 .mp4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371600"/>
            <a:ext cx="1463040" cy="1188720"/>
          </a:xfrm>
          <a:prstGeom prst="rect">
            <a:avLst/>
          </a:prstGeom>
          <a:solidFill>
            <a:srgbClr val="14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463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ffmpeg</a:t>
            </a:r>
            <a:br/>
            <a:r>
              <a:t>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74519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提取音频</a:t>
            </a:r>
            <a:br/>
            <a:r>
              <a:t>逐帧采样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371600"/>
            <a:ext cx="1463040" cy="1188720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463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ASR</a:t>
            </a:r>
            <a:br/>
            <a:r>
              <a:t>语音识别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874519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SenseVoice</a:t>
            </a:r>
            <a:br/>
            <a:r>
              <a:t>→ 文字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371600"/>
            <a:ext cx="1463040" cy="1188720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1463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音频情绪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874519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SenseVoice</a:t>
            </a:r>
            <a:br/>
            <a:r>
              <a:t>语音情绪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371600"/>
            <a:ext cx="1463040" cy="1188720"/>
          </a:xfrm>
          <a:prstGeom prst="rect">
            <a:avLst/>
          </a:prstGeom>
          <a:solidFill>
            <a:srgbClr val="1A8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1463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面部情绪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874519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HSEmotion</a:t>
            </a:r>
            <a:br/>
            <a:r>
              <a:t>+ MediaPipe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371600"/>
            <a:ext cx="1463040" cy="1188720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1463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情绪融合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874519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加权综合</a:t>
            </a:r>
            <a:br/>
            <a:r>
              <a:t>冲突仲裁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691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300"/>
              </a:lnSpc>
              <a:defRPr sz="1100" b="0">
                <a:solidFill>
                  <a:srgbClr val="6B8290"/>
                </a:solidFill>
                <a:latin typeface="Microsoft YaHei"/>
              </a:defRPr>
            </a:pPr>
            <a: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1371600"/>
            <a:ext cx="1572768" cy="1188720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1463040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500"/>
              </a:lnSpc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四阶段</a:t>
            </a:r>
            <a:br/>
            <a:r>
              <a:t>流水线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1874519"/>
            <a:ext cx="1572768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200"/>
              </a:lnSpc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Safety → ...</a:t>
            </a:r>
            <a:br/>
            <a:r>
              <a:t>→ Intervention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2608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2926080"/>
            <a:ext cx="5486400" cy="54864"/>
          </a:xfrm>
          <a:prstGeom prst="rect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017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D7C85"/>
                </a:solidFill>
                <a:latin typeface="Microsoft YaHei"/>
              </a:defRPr>
            </a:pPr>
            <a:r>
              <a:t>VideoPreprocessor 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474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使用 ffmpeg 从视频文件中提取 WAV 音频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使用 OpenCV (cv2.VideoCapture) 按时间均匀采帧（最多 20 帧）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3891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MediaPipe 人脸检测 → 逐帧裁剪人脸区域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最少 3 个有效帧 + 人脸检出率 ≥ 30% 才进入情绪分析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2926080"/>
            <a:ext cx="54864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2926080"/>
            <a:ext cx="5486400" cy="54864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0" y="30175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900"/>
              </a:lnSpc>
              <a:defRPr sz="1600" b="1">
                <a:solidFill>
                  <a:srgbClr val="0D7C85"/>
                </a:solidFill>
                <a:latin typeface="Microsoft YaHei"/>
              </a:defRPr>
            </a:pPr>
            <a:r>
              <a:t>情绪融合机制 (EmotionFusion)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4747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文字情绪 + 语音情绪 + 面部情绪 → 三路信号加权融合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931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各通道置信度不同时，按置信度加权取主情绪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3891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若某通道信号缺失或不可靠（如无人脸），自动剔除并降权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846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500"/>
              </a:lnSpc>
              <a:defRPr sz="1200" b="0">
                <a:solidFill>
                  <a:srgbClr val="1B3A4B"/>
                </a:solidFill>
                <a:latin typeface="Microsoft YaHei"/>
              </a:defRPr>
            </a:pPr>
            <a:r>
              <a:t>• 最终输出统一的 EmotionTags 给下游路由模块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320040"/>
            <a:ext cx="365760" cy="365760"/>
          </a:xfrm>
          <a:prstGeom prst="ellipse">
            <a:avLst/>
          </a:prstGeom>
          <a:solidFill>
            <a:srgbClr val="0D7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74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3300"/>
              </a:lnSpc>
              <a:defRPr sz="2800" b="1">
                <a:solidFill>
                  <a:srgbClr val="1B3A4B"/>
                </a:solidFill>
                <a:latin typeface="Microsoft YaHei"/>
              </a:defRPr>
            </a:pPr>
            <a:r>
              <a:t>API 路由结构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路由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/api/v1/pipeline/run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文本流水线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输入文字 → 完整四阶段处理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/api/v1/pipeline/run-with-video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视频流水线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上传视频 → 预处理 → 四阶段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/api/v1/multimodal/asr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语音转文字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独立 ASR 服务 (SenseVoice/Whisper)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/api/v1/multimodal/tts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文字转语音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Edge-TTS 语音合成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/api/v1/multimodal/emotion-detect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情绪检测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图片/音频情绪独立分析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/api/v1/multimodal/safety-check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安全检查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独立安全过滤接口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/api/v1/modules/safety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安全模块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独立模块 API，支持 Mock 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/api/v1/modules/emotion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情绪模块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独立模块 API，支持 Mock 切换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/api/v1/modules/router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路由模块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独立模块 API，支持 Mock 切换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/api/v1/modules/intervention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干预模块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独立模块 API，支持 Mock 切换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/api/v1/chat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旧版聊天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已标记废弃，保留兼容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3A4B"/>
                          </a:solidFill>
                          <a:latin typeface="Consolas"/>
                        </a:defRPr>
                      </a:pPr>
                      <a:r>
                        <a:t>/api/v1/chat/stream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流式聊天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B3A4B"/>
                          </a:solidFill>
                          <a:latin typeface="Microsoft YaHei"/>
                        </a:defRPr>
                      </a:pPr>
                      <a:r>
                        <a:t>SSE 实时流式输出</a:t>
                      </a:r>
                    </a:p>
                  </a:txBody>
                  <a:tcPr anchor="ctr">
                    <a:solidFill>
                      <a:srgbClr val="F5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solidFill>
            <a:srgbClr val="E8E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400"/>
              </a:lnSpc>
              <a:defRPr sz="1200" b="0">
                <a:solidFill>
                  <a:srgbClr val="6B8290"/>
                </a:solidFill>
                <a:latin typeface="Microsoft YaHei"/>
              </a:defRPr>
            </a:pPr>
            <a:r>
              <a:t>各模块通过 .env 的 MOCK_* 开关支持独立 Mock/Real 模式切换，实现并行开发与独立测试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57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36576"/>
          </a:xfrm>
          <a:prstGeom prst="rect">
            <a:avLst/>
          </a:prstGeom>
          <a:solidFill>
            <a:srgbClr val="5CD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600"/>
              </a:lnSpc>
              <a:defRPr sz="2200" b="0">
                <a:solidFill>
                  <a:srgbClr val="5CD6C3"/>
                </a:solidFill>
                <a:latin typeface="Microsoft YaHei"/>
              </a:defRPr>
            </a:pPr>
            <a:r>
              <a:t>心理异常智能早筛与精准干预系统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900"/>
              </a:lnSpc>
              <a:defRPr sz="1600" b="0">
                <a:solidFill>
                  <a:srgbClr val="9BB8BF"/>
                </a:solidFill>
                <a:latin typeface="Microsoft YaHei"/>
              </a:defRPr>
            </a:pPr>
            <a:r>
              <a:t>安全过滤  ·  情绪分析  ·  智能路由  ·  精准干预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2400"/>
              </a:lnSpc>
              <a:defRPr sz="2000" b="0">
                <a:solidFill>
                  <a:srgbClr val="7A9EA8"/>
                </a:solidFill>
                <a:latin typeface="Microsoft YaHei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993</Words>
  <Application>Microsoft Office PowerPoint</Application>
  <PresentationFormat>宽屏</PresentationFormat>
  <Paragraphs>271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腾 许</cp:lastModifiedBy>
  <cp:revision>2</cp:revision>
  <dcterms:created xsi:type="dcterms:W3CDTF">2013-01-27T09:14:16Z</dcterms:created>
  <dcterms:modified xsi:type="dcterms:W3CDTF">2026-06-24T12:33:44Z</dcterms:modified>
  <cp:category/>
</cp:coreProperties>
</file>